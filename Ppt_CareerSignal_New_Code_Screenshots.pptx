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457200"/>
            <a:ext cx="2377440" cy="2377440"/>
          </a:xfrm>
          <a:prstGeom prst="ellipse">
            <a:avLst/>
          </a:prstGeom>
          <a:solidFill>
            <a:srgbClr val="C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66BE"/>
                </a:solidFill>
                <a:latin typeface="Aptos"/>
              </a:defRPr>
            </a:pPr>
            <a:r>
              <a:t>SKILLBRIDGE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66BE"/>
                </a:solidFill>
                <a:latin typeface="Aptos"/>
              </a:defRPr>
            </a:pPr>
            <a:r>
              <a:t>AI Workforce &amp; Knowledge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3773"/>
                </a:solidFill>
                <a:latin typeface="Aptos"/>
              </a:defRPr>
            </a:pPr>
            <a:r>
              <a:t>From Skill Gaps</a:t>
            </a:r>
            <a:br/>
            <a:r>
              <a:t>to Real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760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C7EAD"/>
                </a:solidFill>
                <a:latin typeface="Aptos"/>
              </a:defRPr>
            </a:pPr>
            <a:r>
              <a:t>Connect what people know, what companies need,</a:t>
            </a:r>
            <a:br/>
            <a:r>
              <a:t>and what people need to learn.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0"/>
            <a:ext cx="4023360" cy="4572000"/>
          </a:xfrm>
          <a:prstGeom prst="roundRect">
            <a:avLst/>
          </a:prstGeom>
          <a:solidFill>
            <a:srgbClr val="E8F3FF"/>
          </a:solidFill>
          <a:ln>
            <a:solidFill>
              <a:srgbClr val="96B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66BE"/>
                </a:solidFill>
                <a:latin typeface="Aptos"/>
              </a:defRPr>
            </a:pPr>
            <a:r>
              <a:t>CAREER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666BE"/>
                </a:solidFill>
                <a:latin typeface="Aptos"/>
              </a:defRPr>
            </a:pPr>
            <a:r>
              <a:t>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13773"/>
                </a:solidFill>
                <a:latin typeface="Aptos"/>
              </a:defRPr>
            </a:pPr>
            <a:r>
              <a:t>Target Role: Data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175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C7EAD"/>
                </a:solidFill>
                <a:latin typeface="Aptos"/>
              </a:defRPr>
            </a:pPr>
            <a:r>
              <a:t>Highest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461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3773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0175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C7EAD"/>
                </a:solidFill>
                <a:latin typeface="Aptos"/>
              </a:defRPr>
            </a:pPr>
            <a:r>
              <a:t>Next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2461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3773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0233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C7EAD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251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3773"/>
                </a:solidFill>
                <a:latin typeface="Aptos"/>
              </a:defRPr>
            </a:pPr>
            <a:r>
              <a:t>3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233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C7EAD"/>
                </a:solidFill>
                <a:latin typeface="Aptos"/>
              </a:defRPr>
            </a:pPr>
            <a:r>
              <a:t>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251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3773"/>
                </a:solidFill>
                <a:latin typeface="Aptos"/>
              </a:defRPr>
            </a:pPr>
            <a:r>
              <a:t>12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457200"/>
            <a:ext cx="2377440" cy="2377440"/>
          </a:xfrm>
          <a:prstGeom prst="ellipse">
            <a:avLst/>
          </a:prstGeom>
          <a:solidFill>
            <a:srgbClr val="C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66BE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773"/>
                </a:solidFill>
                <a:latin typeface="Aptos"/>
              </a:defRPr>
            </a:pPr>
            <a:r>
              <a:t>What is the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C7EAD"/>
                </a:solidFill>
                <a:latin typeface="Aptos"/>
              </a:defRPr>
            </a:pPr>
            <a:r>
              <a:t>The skills economy is changing faster than traditional career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06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👨‍💻 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22860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Don't know which emerging skills to learn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606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🏢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63239"/>
            <a:ext cx="22860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Cannot easily identify workforce skill gaps.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94560"/>
            <a:ext cx="2606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🎓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39"/>
            <a:ext cx="22860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Learning is not directly connected to jobs.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194560"/>
            <a:ext cx="26060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2606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👩‍🏫 Professors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599" y="3063239"/>
            <a:ext cx="22860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Curriculum is not always aligned with industry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457200"/>
            <a:ext cx="2377440" cy="2377440"/>
          </a:xfrm>
          <a:prstGeom prst="ellipse">
            <a:avLst/>
          </a:prstGeom>
          <a:solidFill>
            <a:srgbClr val="C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66BE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773"/>
                </a:solidFill>
                <a:latin typeface="Aptos"/>
              </a:defRPr>
            </a:pPr>
            <a:r>
              <a:t>Step-by-Step AI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2057400" cy="2743200"/>
          </a:xfrm>
          <a:prstGeom prst="roundRect">
            <a:avLst/>
          </a:prstGeom>
          <a:solidFill>
            <a:srgbClr val="113773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D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737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DCEBFF"/>
                </a:solidFill>
                <a:latin typeface="Aptos"/>
              </a:defRPr>
            </a:pPr>
            <a:r>
              <a:t>Capture skills &amp; career goals.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31546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66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03120"/>
            <a:ext cx="2057400" cy="2743200"/>
          </a:xfrm>
          <a:prstGeom prst="roundRect">
            <a:avLst/>
          </a:prstGeom>
          <a:solidFill>
            <a:srgbClr val="113773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2402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D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71800"/>
            <a:ext cx="1737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DCEBFF"/>
                </a:solidFill>
                <a:latin typeface="Aptos"/>
              </a:defRPr>
            </a:pPr>
            <a:r>
              <a:t>Compare profile with target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1546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66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103120"/>
            <a:ext cx="2057400" cy="2743200"/>
          </a:xfrm>
          <a:prstGeom prst="roundRect">
            <a:avLst/>
          </a:prstGeom>
          <a:solidFill>
            <a:srgbClr val="113773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2402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D7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146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71800"/>
            <a:ext cx="1737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DCEBFF"/>
                </a:solidFill>
                <a:latin typeface="Aptos"/>
              </a:defRPr>
            </a:pPr>
            <a:r>
              <a:t>Identify the biggest skill gaps.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31546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66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103120"/>
            <a:ext cx="2057400" cy="2743200"/>
          </a:xfrm>
          <a:prstGeom prst="roundRect">
            <a:avLst/>
          </a:prstGeom>
          <a:solidFill>
            <a:srgbClr val="113773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22402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D7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5146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BUILD &amp; 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971800"/>
            <a:ext cx="1737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DCEBFF"/>
                </a:solidFill>
                <a:latin typeface="Aptos"/>
              </a:defRPr>
            </a:pPr>
            <a:r>
              <a:t>Learn and build projects.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1546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666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59" y="2103120"/>
            <a:ext cx="2057400" cy="2743200"/>
          </a:xfrm>
          <a:prstGeom prst="roundRect">
            <a:avLst/>
          </a:prstGeom>
          <a:solidFill>
            <a:srgbClr val="113773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39" y="224027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D7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39" y="2514600"/>
            <a:ext cx="1691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39" y="2971800"/>
            <a:ext cx="1737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DCEBFF"/>
                </a:solidFill>
                <a:latin typeface="Aptos"/>
              </a:defRPr>
            </a:pPr>
            <a:r>
              <a:t>Match with jobs &amp;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-457200"/>
            <a:ext cx="2377440" cy="2377440"/>
          </a:xfrm>
          <a:prstGeom prst="ellipse">
            <a:avLst/>
          </a:prstGeom>
          <a:solidFill>
            <a:srgbClr val="C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66BE"/>
                </a:solidFill>
                <a:latin typeface="Aptos"/>
              </a:defRPr>
            </a:pPr>
            <a:r>
              <a:t>03 / AI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3773"/>
                </a:solidFill>
                <a:latin typeface="Aptos"/>
              </a:defRPr>
            </a:pPr>
            <a:r>
              <a:t>How SkillBridge AI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9260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AI Skill Gap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2606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AI compares current skills with target role and finds missing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057400"/>
            <a:ext cx="29260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2468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Personalized Action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926080"/>
            <a:ext cx="2606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Recommends Power BI, Statistics and Visualization based on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057400"/>
            <a:ext cx="29260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AF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468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Opportunity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926080"/>
            <a:ext cx="2606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C7EAD"/>
                </a:solidFill>
                <a:latin typeface="Aptos"/>
              </a:defRPr>
            </a:pPr>
            <a:r>
              <a:t>Matches users with jobs, projects and learning opportunities.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773"/>
                </a:solidFill>
                <a:latin typeface="Aptos"/>
              </a:defRPr>
            </a:pPr>
            <a:r>
              <a:t>Profile → AI Analysis → Skill Gaps → Learn → Build Proof →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B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DCDC"/>
                </a:solidFill>
              </a:defRPr>
            </a:pPr>
            <a:r>
              <a:t>04 / SOURCE CODE —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F"/>
                </a:solidFill>
              </a:defRPr>
            </a:pPr>
            <a:r>
              <a:t>index.html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3E1"/>
                </a:solidFill>
              </a:defRPr>
            </a:pPr>
            <a:r>
              <a:t>HTML structure &amp;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0972800" cy="4343400"/>
          </a:xfrm>
          <a:prstGeom prst="roundRect">
            <a:avLst/>
          </a:prstGeom>
          <a:solidFill>
            <a:srgbClr val="14274B"/>
          </a:solidFill>
          <a:ln w="15240">
            <a:solidFill>
              <a:srgbClr val="41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1447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C3E1"/>
                </a:solidFill>
              </a:defRPr>
            </a:pPr>
            <a:r>
              <a:t>SkillBridge AI  •  Real implementation screenshot</a:t>
            </a:r>
          </a:p>
        </p:txBody>
      </p:sp>
      <p:pic>
        <p:nvPicPr>
          <p:cNvPr id="9" name="Picture 8" descr="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7899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B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DCDC"/>
                </a:solidFill>
              </a:defRPr>
            </a:pPr>
            <a:r>
              <a:t>05 / SOURCE CODE —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F"/>
                </a:solidFill>
              </a:defRPr>
            </a:pPr>
            <a:r>
              <a:t>style.css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3E1"/>
                </a:solidFill>
              </a:defRPr>
            </a:pPr>
            <a:r>
              <a:t>UI styling &amp; visual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0972800" cy="4343400"/>
          </a:xfrm>
          <a:prstGeom prst="roundRect">
            <a:avLst/>
          </a:prstGeom>
          <a:solidFill>
            <a:srgbClr val="14274B"/>
          </a:solidFill>
          <a:ln w="15240">
            <a:solidFill>
              <a:srgbClr val="41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1447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C3E1"/>
                </a:solidFill>
              </a:defRPr>
            </a:pPr>
            <a:r>
              <a:t>SkillBridge AI  •  Real implementation screenshot</a:t>
            </a:r>
          </a:p>
        </p:txBody>
      </p:sp>
      <p:pic>
        <p:nvPicPr>
          <p:cNvPr id="9" name="Picture 8" descr="C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7899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B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DCDC"/>
                </a:solidFill>
              </a:defRPr>
            </a:pPr>
            <a:r>
              <a:t>06 / SOURCE CODE —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9FF"/>
                </a:solidFill>
              </a:defRPr>
            </a:pPr>
            <a:r>
              <a:t>script.js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3E1"/>
                </a:solidFill>
              </a:defRPr>
            </a:pPr>
            <a:r>
              <a:t>Interaction &amp; functionality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0972800" cy="4343400"/>
          </a:xfrm>
          <a:prstGeom prst="roundRect">
            <a:avLst/>
          </a:prstGeom>
          <a:solidFill>
            <a:srgbClr val="14274B"/>
          </a:solidFill>
          <a:ln w="15240">
            <a:solidFill>
              <a:srgbClr val="41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1447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C3E1"/>
                </a:solidFill>
              </a:defRPr>
            </a:pPr>
            <a:r>
              <a:t>SkillBridge AI  •  Real implementation screenshot</a:t>
            </a:r>
          </a:p>
        </p:txBody>
      </p:sp>
      <p:pic>
        <p:nvPicPr>
          <p:cNvPr id="9" name="Picture 8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10789920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